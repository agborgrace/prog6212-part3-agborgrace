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EA891-00F2-CACC-CF2B-9271A9BA2697}" v="349" dt="2025-11-21T17:29:22.889"/>
    <p1510:client id="{98DB489F-2C10-35EE-118D-9CAA5E178B36}" v="73" dt="2025-11-21T21:12:37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87" d="100"/>
          <a:sy n="87" d="100"/>
        </p:scale>
        <p:origin x="142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300" y="-429"/>
            <a:ext cx="7142987" cy="6858429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067300" y="4571999"/>
            <a:ext cx="7140054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F2F4EA-388B-424B-AC17-965C10DAF675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08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CF9F-8FDB-4ADC-A9FD-4B179047B36A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4AF38C-0923-462D-8E8F-DFB1FB3CD655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73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531B838-A2A1-4E5F-8CE5-ED5C785421C8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4355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B369E90C-83BE-474F-8867-84D9D4BA9A64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0157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B5CA67-94ED-4C14-9B73-CCE5A85B4E93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10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23C116-3055-4F7F-9A49-EB260F9EF6F6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1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A5EF91-D53E-428D-B2CB-7C1F753E44DB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02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772400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4EA7F42-44CA-4E2D-BE54-54E50F1A95AA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F6D2C8-34B4-4D49-8BA1-BACB1E5E91D7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11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FA98E2-6F7F-4A51-8E1F-EB59A50F0269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0BB71E-4F8F-41C0-A92F-F3C4EFE8AC7B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3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3436-5FD3-4DBA-BA14-7BB2834C5EC5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3D6C-C357-4A18-98FF-C5DAE1A10B46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8E0B-8A0C-48E4-ADBA-2AC6A8CE7CBF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CCA7-F1A7-4374-A53E-DDBF6669B4DA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4E53C8-4441-4494-9A33-9A60A8C010FF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85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27853E-A83C-4AE4-BB8D-D1C2F70D8524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91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DAA-674F-41A5-9B7A-63B7C6B4BF31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5508136-2BE5-4DEB-BFFF-CA82AE75DA81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907A-57F4-4BE4-B9CF-66B2A48FC3D2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5247320" cy="64003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8C0C47F-6992-403B-A8BD-DAD08522434F}" type="datetime2">
              <a:rPr lang="en-US" smtClean="0"/>
              <a:t>Friday, November 21, 2025</a:t>
            </a:fld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3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922008" y="6400799"/>
            <a:ext cx="5269988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544068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28336-AE7A-4C2D-0270-493DC7303B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544068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22008" y="-1"/>
            <a:ext cx="5269992" cy="64003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75CBF-C3DD-595A-4D09-0BDBE3A2010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EE2BF70-051F-4182-B873-1FBEE890188B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4C584-842E-9FEF-D13D-CAA866F0BF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B29163A-D4FD-4B13-B760-29FEA46D26A0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F31E3F0-C597-454C-9C6A-C05C00896517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21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4C03E46-357C-41AA-B644-5D238512659D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33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7317806-C1A4-4898-A392-58092F2DAC1E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EBE550A-BFEE-40D6-A0EE-F4BD2148E98A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166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60DE63-5C97-4D17-AD5B-559BE78F8C6E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0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945630" y="6401228"/>
            <a:ext cx="5246366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1CEA-5D85-42AB-95DF-BF2F02172CA4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51AB-126F-4C4D-9C0D-9B9B07DC1CFA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578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B0D61-5867-4B60-96C2-F34431D24F0C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365B4-2BDD-42A8-8AD0-4FD66D3F5C4E}" type="datetime2">
              <a:rPr lang="en-US" smtClean="0"/>
              <a:t>Friday, November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87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042AE0-E8A0-4C07-BDCE-3F5EAB477031}" type="datetime2">
              <a:rPr lang="en-US" smtClean="0"/>
              <a:t>Friday, November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34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8D1234-C791-4FA0-B7BF-3B97E1AFD349}" type="datetime2">
              <a:rPr lang="en-US" smtClean="0"/>
              <a:t>Friday, November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799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9FD6B-A98A-41CE-AE80-E9BFC922155F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323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A27B-DA16-4786-8944-4B1CF34905EE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459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A190-1DE0-42AE-81F7-BAE9BB470D89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282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0A192-F923-4AB4-BDCC-6ACB26A0AAAE}" type="datetime2">
              <a:rPr lang="en-US" smtClean="0"/>
              <a:t>Friday, November 21, 2025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647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769460-8E62-40CA-83A8-CB830C3D7F18}" type="datetime2">
              <a:rPr lang="en-US" smtClean="0"/>
              <a:t>Friday, November 21, 2025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7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9BF413-3F81-4C14-A195-E47B863670C3}" type="datetime2">
              <a:rPr lang="en-US" smtClean="0"/>
              <a:t>Friday, November 21, 2025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058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CE8AB-DD53-DE37-0172-0F4C2D9FEBD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020824"/>
            <a:ext cx="5075237" cy="411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467A339-2191-25DF-DA14-F9F1C27E8EB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0813" y="2020824"/>
            <a:ext cx="5075237" cy="411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486C-F518-4593-A9F9-71F14C909BBB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D0ED8F7-2A3F-80A9-EF90-A2A4073C69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020888"/>
            <a:ext cx="507365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D723F4E-0022-57BD-B68A-67BA6188174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0813" y="2020888"/>
            <a:ext cx="507523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DDA2C-4D95-4DB6-BF4A-4F688D05F62F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4565-505C-457E-BFE9-7CA5ED3C51C4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EFDC-6A75-4D73-91E7-2ECC26E96D93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2"/>
            <a:ext cx="3309608" cy="38245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58207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072B-0F30-4743-AD00-90BD7F92FC91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FF1A8-4BF9-4B7D-9A44-0F91B76D49BD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7636FB-A6BA-4E3C-9023-5FBFE4689724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FE3FE3-B74C-4213-AB2F-60F99F3419C3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39174FB3-ACF6-4A9B-9D1F-91EEB8A6966E}" type="datetime2">
              <a:rPr lang="en-US" smtClean="0"/>
              <a:t>Friday, November 21,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662" r:id="rId2"/>
    <p:sldLayoutId id="2147483788" r:id="rId3"/>
    <p:sldLayoutId id="2147483792" r:id="rId4"/>
    <p:sldLayoutId id="2147483785" r:id="rId5"/>
    <p:sldLayoutId id="2147483781" r:id="rId6"/>
    <p:sldLayoutId id="2147483783" r:id="rId7"/>
    <p:sldLayoutId id="2147483784" r:id="rId8"/>
    <p:sldLayoutId id="2147483729" r:id="rId9"/>
    <p:sldLayoutId id="2147483810" r:id="rId10"/>
    <p:sldLayoutId id="2147483716" r:id="rId11"/>
    <p:sldLayoutId id="2147483841" r:id="rId12"/>
    <p:sldLayoutId id="2147483679" r:id="rId13"/>
    <p:sldLayoutId id="2147483680" r:id="rId14"/>
    <p:sldLayoutId id="2147483681" r:id="rId15"/>
    <p:sldLayoutId id="2147483778" r:id="rId16"/>
    <p:sldLayoutId id="2147483797" r:id="rId17"/>
    <p:sldLayoutId id="2147483794" r:id="rId18"/>
    <p:sldLayoutId id="2147483690" r:id="rId19"/>
    <p:sldLayoutId id="2147483707" r:id="rId20"/>
    <p:sldLayoutId id="2147483708" r:id="rId21"/>
    <p:sldLayoutId id="2147483848" r:id="rId22"/>
    <p:sldLayoutId id="2147483849" r:id="rId23"/>
    <p:sldLayoutId id="2147483694" r:id="rId24"/>
    <p:sldLayoutId id="2147483803" r:id="rId25"/>
    <p:sldLayoutId id="2147483824" r:id="rId26"/>
    <p:sldLayoutId id="2147483770" r:id="rId27"/>
    <p:sldLayoutId id="2147483801" r:id="rId28"/>
    <p:sldLayoutId id="2147483808" r:id="rId29"/>
    <p:sldLayoutId id="2147483672" r:id="rId30"/>
    <p:sldLayoutId id="2147483804" r:id="rId31"/>
    <p:sldLayoutId id="2147483696" r:id="rId32"/>
    <p:sldLayoutId id="2147483845" r:id="rId33"/>
    <p:sldLayoutId id="2147483846" r:id="rId34"/>
    <p:sldLayoutId id="2147483847" r:id="rId35"/>
    <p:sldLayoutId id="2147483826" r:id="rId36"/>
    <p:sldLayoutId id="2147483775" r:id="rId37"/>
    <p:sldLayoutId id="2147483823" r:id="rId38"/>
    <p:sldLayoutId id="2147483842" r:id="rId39"/>
    <p:sldLayoutId id="2147483843" r:id="rId40"/>
    <p:sldLayoutId id="2147483844" r:id="rId41"/>
    <p:sldLayoutId id="2147483664" r:id="rId42"/>
    <p:sldLayoutId id="2147483665" r:id="rId43"/>
    <p:sldLayoutId id="2147483666" r:id="rId44"/>
    <p:sldLayoutId id="2147483667" r:id="rId45"/>
    <p:sldLayoutId id="2147483668" r:id="rId46"/>
    <p:sldLayoutId id="2147483669" r:id="rId47"/>
    <p:sldLayoutId id="2147483685" r:id="rId48"/>
    <p:sldLayoutId id="2147483730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AA46-5C1D-CC0F-1993-8A78D4E6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37" y="82914"/>
            <a:ext cx="3713996" cy="2212313"/>
          </a:xfrm>
        </p:spPr>
        <p:txBody>
          <a:bodyPr anchor="t">
            <a:normAutofit fontScale="90000"/>
          </a:bodyPr>
          <a:lstStyle/>
          <a:p>
            <a:r>
              <a:rPr lang="en-US" sz="3200">
                <a:ea typeface="+mj-lt"/>
                <a:cs typeface="+mj-lt"/>
              </a:rPr>
              <a:t>CMCS PowerPoint Presentation</a:t>
            </a:r>
            <a:br>
              <a:rPr lang="en-US" sz="3200">
                <a:ea typeface="+mj-lt"/>
                <a:cs typeface="+mj-lt"/>
              </a:rPr>
            </a:br>
            <a:br>
              <a:rPr lang="en-US" b="0">
                <a:ea typeface="+mj-lt"/>
                <a:cs typeface="+mj-lt"/>
              </a:rPr>
            </a:br>
            <a:r>
              <a:rPr lang="en-US" b="0">
                <a:ea typeface="+mj-lt"/>
                <a:cs typeface="+mj-lt"/>
              </a:rPr>
              <a:t>PROG6212 Part 3 Final POE</a:t>
            </a:r>
            <a:br>
              <a:rPr lang="en-US" b="0">
                <a:ea typeface="+mj-lt"/>
                <a:cs typeface="+mj-lt"/>
              </a:rPr>
            </a:br>
            <a:br>
              <a:rPr lang="en-US" b="0">
                <a:ea typeface="+mj-lt"/>
                <a:cs typeface="+mj-lt"/>
              </a:rPr>
            </a:br>
            <a:r>
              <a:rPr lang="en-US" sz="2000">
                <a:ea typeface="+mj-lt"/>
                <a:cs typeface="+mj-lt"/>
              </a:rPr>
              <a:t>Content:</a:t>
            </a:r>
            <a:endParaRPr lang="en-US" sz="2000" b="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j-lt"/>
                <a:cs typeface="+mj-lt"/>
              </a:rPr>
              <a:t>Title:</a:t>
            </a:r>
            <a:r>
              <a:rPr lang="en-US" sz="2000" b="0">
                <a:ea typeface="+mj-lt"/>
                <a:cs typeface="+mj-lt"/>
              </a:rPr>
              <a:t> Contract Monthly Claim System (CMCS)</a:t>
            </a:r>
            <a:br>
              <a:rPr lang="en-US" sz="2000" b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j-lt"/>
                <a:cs typeface="+mj-lt"/>
              </a:rPr>
              <a:t>Subtitle:</a:t>
            </a:r>
            <a:r>
              <a:rPr lang="en-US" sz="2000" b="0">
                <a:ea typeface="+mj-lt"/>
                <a:cs typeface="+mj-lt"/>
              </a:rPr>
              <a:t> PROG6212 Part 3 - Final Portfolio of Evidence</a:t>
            </a:r>
            <a:br>
              <a:rPr lang="en-US" sz="2000" b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j-lt"/>
                <a:cs typeface="+mj-lt"/>
              </a:rPr>
              <a:t>Student Name:</a:t>
            </a:r>
            <a:r>
              <a:rPr lang="en-US" sz="2000" b="0">
                <a:ea typeface="+mj-lt"/>
                <a:cs typeface="+mj-lt"/>
              </a:rPr>
              <a:t>Grace Bissong Agbor</a:t>
            </a:r>
            <a:br>
              <a:rPr lang="en-US" sz="2000" b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j-lt"/>
                <a:cs typeface="+mj-lt"/>
              </a:rPr>
              <a:t>Student Number:</a:t>
            </a:r>
            <a:r>
              <a:rPr lang="en-US" sz="2000" b="0">
                <a:ea typeface="+mj-lt"/>
                <a:cs typeface="+mj-lt"/>
              </a:rPr>
              <a:t> ST10066225</a:t>
            </a:r>
            <a:br>
              <a:rPr lang="en-US" sz="2000" b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j-lt"/>
                <a:cs typeface="+mj-lt"/>
              </a:rPr>
              <a:t>Date:</a:t>
            </a:r>
            <a:r>
              <a:rPr lang="en-US" sz="2000" b="0">
                <a:ea typeface="+mj-lt"/>
                <a:cs typeface="+mj-lt"/>
              </a:rPr>
              <a:t> 21 November 2025</a:t>
            </a:r>
            <a:endParaRPr lang="en-US" sz="2000"/>
          </a:p>
          <a:p>
            <a:endParaRPr lang="en-US" b="0"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EE30F-73E4-18D7-5CEC-E788CAFCE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CMCS PowerPoint Presentation</a:t>
            </a:r>
          </a:p>
        </p:txBody>
      </p:sp>
      <p:pic>
        <p:nvPicPr>
          <p:cNvPr id="6" name="Picture Placeholder 5" descr="A person touching a computer screen&#10;&#10;AI-generated content may be incorrect.">
            <a:extLst>
              <a:ext uri="{FF2B5EF4-FFF2-40B4-BE49-F238E27FC236}">
                <a16:creationId xmlns:a16="http://schemas.microsoft.com/office/drawing/2014/main" id="{166FB4B5-C549-76FC-61BB-06ED9033E0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3207" r="13207"/>
          <a:stretch/>
        </p:blipFill>
        <p:spPr>
          <a:xfrm>
            <a:off x="5421513" y="603504"/>
            <a:ext cx="6154336" cy="5376510"/>
          </a:xfrm>
          <a:noFill/>
        </p:spPr>
      </p:pic>
    </p:spTree>
    <p:extLst>
      <p:ext uri="{BB962C8B-B14F-4D97-AF65-F5344CB8AC3E}">
        <p14:creationId xmlns:p14="http://schemas.microsoft.com/office/powerpoint/2010/main" val="248052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0B841-E296-C85E-9910-CB18B5B37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346" y="159865"/>
            <a:ext cx="7004304" cy="4462581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Project Overview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Title:</a:t>
            </a:r>
            <a:r>
              <a:rPr lang="en-US" b="0" dirty="0">
                <a:ea typeface="+mj-lt"/>
                <a:cs typeface="+mj-lt"/>
              </a:rPr>
              <a:t> </a:t>
            </a:r>
            <a:br>
              <a:rPr lang="en-US" b="0" dirty="0">
                <a:ea typeface="+mj-lt"/>
                <a:cs typeface="+mj-lt"/>
              </a:rPr>
            </a:br>
            <a:r>
              <a:rPr lang="en-US" sz="1400" b="0" dirty="0">
                <a:ea typeface="+mj-lt"/>
                <a:cs typeface="+mj-lt"/>
              </a:rPr>
              <a:t>System Overview</a:t>
            </a:r>
            <a:endParaRPr lang="en-US" sz="1400" dirty="0">
              <a:ea typeface="+mj-lt"/>
              <a:cs typeface="+mj-lt"/>
            </a:endParaRPr>
          </a:p>
          <a:p>
            <a:r>
              <a:rPr lang="en-US" sz="1400" dirty="0">
                <a:ea typeface="+mj-lt"/>
                <a:cs typeface="+mj-lt"/>
              </a:rPr>
              <a:t>Content: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2000" b="0" dirty="0">
                <a:ea typeface="+mj-lt"/>
                <a:cs typeface="+mj-lt"/>
              </a:rPr>
              <a:t>Purpose: Streamline lecturer contract claim management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0" dirty="0">
                <a:ea typeface="+mj-lt"/>
                <a:cs typeface="+mj-lt"/>
              </a:rPr>
              <a:t>Technology: ASP.NET Core 6.0 MVC + SQL Server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0" dirty="0">
                <a:ea typeface="+mj-lt"/>
                <a:cs typeface="+mj-lt"/>
              </a:rPr>
              <a:t>Key Innovation: Role-based access control with 4 user types</a:t>
            </a:r>
            <a:br>
              <a:rPr lang="en-US" sz="2000" b="0" dirty="0">
                <a:ea typeface="+mj-lt"/>
                <a:cs typeface="+mj-lt"/>
              </a:rPr>
            </a:b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0" dirty="0">
                <a:ea typeface="+mj-lt"/>
                <a:cs typeface="+mj-lt"/>
              </a:rPr>
              <a:t>Highlights: </a:t>
            </a:r>
            <a:endParaRPr lang="en-US" sz="2000"/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+mj-lt"/>
                <a:ea typeface="+mj-lt"/>
                <a:cs typeface="+mj-lt"/>
              </a:rPr>
              <a:t>Auto-calculation of claims</a:t>
            </a:r>
            <a:endParaRPr lang="en-US" sz="2000"/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+mj-lt"/>
                <a:ea typeface="+mj-lt"/>
                <a:cs typeface="+mj-lt"/>
              </a:rPr>
              <a:t>Two-stage approval workflow</a:t>
            </a:r>
            <a:endParaRPr lang="en-US" sz="2000"/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+mj-lt"/>
                <a:ea typeface="+mj-lt"/>
                <a:cs typeface="+mj-lt"/>
              </a:rPr>
              <a:t>Real-time status tracking</a:t>
            </a:r>
            <a:endParaRPr lang="en-US" sz="2000"/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+mj-lt"/>
                <a:ea typeface="+mj-lt"/>
                <a:cs typeface="+mj-lt"/>
              </a:rPr>
              <a:t>PDF report generation</a:t>
            </a:r>
            <a:endParaRPr lang="en-US" sz="2000"/>
          </a:p>
          <a:p>
            <a:br>
              <a:rPr lang="en-US" dirty="0">
                <a:ea typeface="+mj-lt"/>
                <a:cs typeface="+mj-lt"/>
              </a:rPr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17481-BA9B-D128-A8E1-60CBC6D0B8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0E34A-2CF2-051E-02A6-CF3CDCF4063B}"/>
              </a:ext>
            </a:extLst>
          </p:cNvPr>
          <p:cNvSpPr txBox="1"/>
          <p:nvPr/>
        </p:nvSpPr>
        <p:spPr>
          <a:xfrm>
            <a:off x="430696" y="165651"/>
            <a:ext cx="11286433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Slide 3</a:t>
            </a:r>
            <a:r>
              <a:rPr lang="en-US" b="1" dirty="0">
                <a:ea typeface="+mn-lt"/>
                <a:cs typeface="+mn-lt"/>
              </a:rPr>
              <a:t>: Changes from Part 2 to Part 3 (Page 1)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Title: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Major Changes Based on Lecturer Feedback</a:t>
            </a:r>
            <a:endParaRPr lang="en-US" sz="2400" b="1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Content:</a:t>
            </a:r>
            <a:endParaRPr lang="en-US" dirty="0"/>
          </a:p>
          <a:p>
            <a:r>
              <a:rPr lang="en-US" dirty="0"/>
              <a:t>1. HR Super User Implementation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Added HR role with full system access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HR creates all user accounts (NO registration)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HR sets and updates lecturer hourly rates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Complete user management dashboard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dirty="0"/>
              <a:t>2. Auto-Calculation Feature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Removed manual hourly rate input for lecturers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Real-time calculation: Hours × Rate = Total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✅ Auto-populated name, surname, and rate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B57FBA-9F5B-8A5A-09D3-CC8626686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245" y="2510692"/>
            <a:ext cx="6354793" cy="3274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FF0157-A6F1-B2D7-822A-0FA811ABE039}"/>
              </a:ext>
            </a:extLst>
          </p:cNvPr>
          <p:cNvSpPr txBox="1"/>
          <p:nvPr/>
        </p:nvSpPr>
        <p:spPr>
          <a:xfrm>
            <a:off x="7073347" y="1822173"/>
            <a:ext cx="45885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Database and Tables Created(SSMS), Screenshot Below</a:t>
            </a:r>
          </a:p>
        </p:txBody>
      </p:sp>
    </p:spTree>
    <p:extLst>
      <p:ext uri="{BB962C8B-B14F-4D97-AF65-F5344CB8AC3E}">
        <p14:creationId xmlns:p14="http://schemas.microsoft.com/office/powerpoint/2010/main" val="1315844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173A-D8B5-5BFC-AC64-DAE2F095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42" y="380337"/>
            <a:ext cx="4325112" cy="24547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Slide 4</a:t>
            </a:r>
            <a:r>
              <a:rPr lang="en-US" sz="1800" dirty="0"/>
              <a:t>: Changes from Part 2 to Part 3 (Page 2)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>
                <a:ea typeface="+mj-lt"/>
                <a:cs typeface="+mj-lt"/>
              </a:rPr>
              <a:t>Title:</a:t>
            </a:r>
            <a:r>
              <a:rPr lang="en-US" sz="1800" b="0" dirty="0">
                <a:ea typeface="+mj-lt"/>
                <a:cs typeface="+mj-lt"/>
              </a:rPr>
              <a:t> Additional Enhancements</a:t>
            </a:r>
            <a:endParaRPr lang="en-US" sz="1800" dirty="0"/>
          </a:p>
          <a:p>
            <a:r>
              <a:rPr lang="en-US" sz="1800" dirty="0">
                <a:ea typeface="+mj-lt"/>
                <a:cs typeface="+mj-lt"/>
              </a:rPr>
              <a:t>Content:</a:t>
            </a:r>
            <a:endParaRPr lang="en-US" sz="1800" dirty="0"/>
          </a:p>
          <a:p>
            <a:r>
              <a:rPr lang="en-US" sz="1800" dirty="0"/>
              <a:t>3. Validation Improvements</a:t>
            </a:r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180-hour monthly maximum validation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Duplicate claim prevention per month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Required field validation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Email format validation</a:t>
            </a:r>
            <a:br>
              <a:rPr lang="en-US" sz="1800" b="0" dirty="0">
                <a:ea typeface="+mj-lt"/>
                <a:cs typeface="+mj-lt"/>
              </a:rPr>
            </a:br>
            <a:endParaRPr lang="en-US" sz="1800" dirty="0"/>
          </a:p>
          <a:p>
            <a:r>
              <a:rPr lang="en-US" sz="1800" dirty="0"/>
              <a:t>4. Entity Framework Integration</a:t>
            </a:r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Database-first approach with SQL Server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No migrations required (as per marking center)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SQL script for database creation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b="0" dirty="0">
                <a:ea typeface="+mj-lt"/>
                <a:cs typeface="+mj-lt"/>
              </a:rPr>
              <a:t>Proper entity relationships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07DB-24BD-4C54-3968-DA0418193C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4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4812-650E-47AC-A9D8-66961A0C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/>
              <a:t>Slide 5: Key Feature - Session Management</a:t>
            </a:r>
          </a:p>
          <a:p>
            <a:r>
              <a:rPr lang="en-US" sz="2400" dirty="0">
                <a:ea typeface="+mj-lt"/>
                <a:cs typeface="+mj-lt"/>
              </a:rPr>
              <a:t>Title:</a:t>
            </a:r>
            <a:r>
              <a:rPr lang="en-US" sz="2400" b="0" dirty="0">
                <a:ea typeface="+mj-lt"/>
                <a:cs typeface="+mj-lt"/>
              </a:rPr>
              <a:t> Session-Based Authentication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6EB21-6B2C-07C5-76CE-6E6D7B3C30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dirty="0">
                <a:ea typeface="+mn-lt"/>
                <a:cs typeface="+mn-lt"/>
              </a:rPr>
              <a:t>// </a:t>
            </a:r>
            <a:r>
              <a:rPr lang="en-US" sz="1200" err="1">
                <a:ea typeface="+mn-lt"/>
                <a:cs typeface="+mn-lt"/>
              </a:rPr>
              <a:t>SessionHelper.cs</a:t>
            </a:r>
            <a:endParaRPr lang="en-US" sz="1200" err="1"/>
          </a:p>
          <a:p>
            <a:r>
              <a:rPr lang="en-US" sz="1200" dirty="0">
                <a:ea typeface="+mn-lt"/>
                <a:cs typeface="+mn-lt"/>
              </a:rPr>
              <a:t>public static void </a:t>
            </a:r>
            <a:r>
              <a:rPr lang="en-US" sz="1200" err="1">
                <a:ea typeface="+mn-lt"/>
                <a:cs typeface="+mn-lt"/>
              </a:rPr>
              <a:t>SetUserSession</a:t>
            </a:r>
            <a:r>
              <a:rPr lang="en-US" sz="1200" dirty="0"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ISession</a:t>
            </a:r>
            <a:r>
              <a:rPr lang="en-US" sz="1200" dirty="0">
                <a:ea typeface="+mn-lt"/>
                <a:cs typeface="+mn-lt"/>
              </a:rPr>
              <a:t> session, 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int </a:t>
            </a:r>
            <a:r>
              <a:rPr lang="en-US" sz="1200" err="1">
                <a:ea typeface="+mn-lt"/>
                <a:cs typeface="+mn-lt"/>
              </a:rPr>
              <a:t>userId</a:t>
            </a:r>
            <a:r>
              <a:rPr lang="en-US" sz="1200" dirty="0">
                <a:ea typeface="+mn-lt"/>
                <a:cs typeface="+mn-lt"/>
              </a:rPr>
              <a:t>, string email, string role, string name)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{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session.SetInt32(</a:t>
            </a:r>
            <a:r>
              <a:rPr lang="en-US" sz="1200" err="1">
                <a:ea typeface="+mn-lt"/>
                <a:cs typeface="+mn-lt"/>
              </a:rPr>
              <a:t>UserIdKey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userId</a:t>
            </a:r>
            <a:r>
              <a:rPr lang="en-US" sz="1200" dirty="0">
                <a:ea typeface="+mn-lt"/>
                <a:cs typeface="+mn-lt"/>
              </a:rPr>
              <a:t>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session.SetString</a:t>
            </a:r>
            <a:r>
              <a:rPr lang="en-US" sz="1200" dirty="0"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UserEmailKey</a:t>
            </a:r>
            <a:r>
              <a:rPr lang="en-US" sz="1200" dirty="0">
                <a:ea typeface="+mn-lt"/>
                <a:cs typeface="+mn-lt"/>
              </a:rPr>
              <a:t>, email);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session.SetString</a:t>
            </a:r>
            <a:r>
              <a:rPr lang="en-US" sz="1200" dirty="0"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UserRoleKey</a:t>
            </a:r>
            <a:r>
              <a:rPr lang="en-US" sz="1200" dirty="0">
                <a:ea typeface="+mn-lt"/>
                <a:cs typeface="+mn-lt"/>
              </a:rPr>
              <a:t>, role);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session.SetString</a:t>
            </a:r>
            <a:r>
              <a:rPr lang="en-US" sz="1200" dirty="0"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UserNameKey</a:t>
            </a:r>
            <a:r>
              <a:rPr lang="en-US" sz="1200" dirty="0">
                <a:ea typeface="+mn-lt"/>
                <a:cs typeface="+mn-lt"/>
              </a:rPr>
              <a:t>, name);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}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// </a:t>
            </a:r>
            <a:r>
              <a:rPr lang="en-US" sz="1200" err="1">
                <a:ea typeface="+mn-lt"/>
                <a:cs typeface="+mn-lt"/>
              </a:rPr>
              <a:t>Program.cs</a:t>
            </a:r>
            <a:r>
              <a:rPr lang="en-US" sz="1200" dirty="0">
                <a:ea typeface="+mn-lt"/>
                <a:cs typeface="+mn-lt"/>
              </a:rPr>
              <a:t> Configuration</a:t>
            </a:r>
            <a:endParaRPr lang="en-US" sz="1200" dirty="0"/>
          </a:p>
          <a:p>
            <a:r>
              <a:rPr lang="en-US" sz="1200" err="1">
                <a:ea typeface="+mn-lt"/>
                <a:cs typeface="+mn-lt"/>
              </a:rPr>
              <a:t>builder.Services.AddSession</a:t>
            </a:r>
            <a:r>
              <a:rPr lang="en-US" sz="1200" dirty="0">
                <a:ea typeface="+mn-lt"/>
                <a:cs typeface="+mn-lt"/>
              </a:rPr>
              <a:t>(options =&gt;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{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options.IdleTimeout</a:t>
            </a:r>
            <a:r>
              <a:rPr lang="en-US" sz="1200" dirty="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TimeSpan.FromMinutes</a:t>
            </a:r>
            <a:r>
              <a:rPr lang="en-US" sz="1200" dirty="0">
                <a:ea typeface="+mn-lt"/>
                <a:cs typeface="+mn-lt"/>
              </a:rPr>
              <a:t>(30);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options.Cookie.HttpOnly</a:t>
            </a:r>
            <a:r>
              <a:rPr lang="en-US" sz="1200" dirty="0">
                <a:ea typeface="+mn-lt"/>
                <a:cs typeface="+mn-lt"/>
              </a:rPr>
              <a:t> = true;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options.Cookie.IsEssential</a:t>
            </a:r>
            <a:r>
              <a:rPr lang="en-US" sz="1200" dirty="0">
                <a:ea typeface="+mn-lt"/>
                <a:cs typeface="+mn-lt"/>
              </a:rPr>
              <a:t> = true;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});</a:t>
            </a:r>
          </a:p>
          <a:p>
            <a:r>
              <a:rPr lang="en-US" sz="2800" b="1" dirty="0">
                <a:ea typeface="+mn-lt"/>
                <a:cs typeface="+mn-lt"/>
              </a:rPr>
              <a:t>Explanation: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Secure session storage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30-minute timeout</a:t>
            </a:r>
            <a:endParaRPr lang="en-US" sz="2800" dirty="0"/>
          </a:p>
          <a:p>
            <a:r>
              <a:rPr lang="en-US" sz="2800" err="1">
                <a:ea typeface="+mn-lt"/>
                <a:cs typeface="+mn-lt"/>
              </a:rPr>
              <a:t>HttpOnly</a:t>
            </a:r>
            <a:r>
              <a:rPr lang="en-US" sz="2800" dirty="0">
                <a:ea typeface="+mn-lt"/>
                <a:cs typeface="+mn-lt"/>
              </a:rPr>
              <a:t> cookies prevent XSS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Role-based page protection</a:t>
            </a:r>
            <a:endParaRPr lang="en-US" sz="28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1185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8F2D-0DAF-FC44-FEB4-DA9ED0B4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359" y="4860"/>
            <a:ext cx="4325112" cy="24547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dirty="0"/>
              <a:t>Slide 6: Key Feature - Auto-Calculation</a:t>
            </a:r>
          </a:p>
          <a:p>
            <a:r>
              <a:rPr lang="en-US" sz="4800" dirty="0">
                <a:ea typeface="+mj-lt"/>
                <a:cs typeface="+mj-lt"/>
              </a:rPr>
              <a:t>Title:</a:t>
            </a:r>
            <a:r>
              <a:rPr lang="en-US" sz="4800" b="0" dirty="0">
                <a:ea typeface="+mj-lt"/>
                <a:cs typeface="+mj-lt"/>
              </a:rPr>
              <a:t> Automatic Claim Calculation</a:t>
            </a:r>
            <a:endParaRPr lang="en-US" sz="4800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9CC32-8B21-011E-4D77-355E73FD61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4583" y="4859"/>
            <a:ext cx="4325112" cy="2459736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r>
              <a:rPr lang="en-US" sz="4800" b="1">
                <a:latin typeface="Avenir Next LT Pro"/>
              </a:rPr>
              <a:t>Code Screenshot &amp;</a:t>
            </a:r>
          </a:p>
          <a:p>
            <a:r>
              <a:rPr lang="en-US" sz="4800" b="1">
                <a:ea typeface="+mn-lt"/>
                <a:cs typeface="+mn-lt"/>
              </a:rPr>
              <a:t>Benefits: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800">
                <a:ea typeface="+mn-lt"/>
                <a:cs typeface="+mn-lt"/>
              </a:rPr>
              <a:t>Eliminates manual calculation errors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800">
                <a:ea typeface="+mn-lt"/>
                <a:cs typeface="+mn-lt"/>
              </a:rPr>
              <a:t>Consistent rate application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800">
                <a:ea typeface="+mn-lt"/>
                <a:cs typeface="+mn-lt"/>
              </a:rPr>
              <a:t>Real-time feedback to users</a:t>
            </a:r>
            <a:endParaRPr lang="en-US"/>
          </a:p>
          <a:p>
            <a:endParaRPr lang="en-US" sz="4800" b="1">
              <a:latin typeface="Avenir Next LT Pro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2B15B0-E193-998A-D892-CE039F7A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9" y="2606990"/>
            <a:ext cx="6316871" cy="346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8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B282CD-891F-D084-7F41-FD7BCAD224AD}"/>
              </a:ext>
            </a:extLst>
          </p:cNvPr>
          <p:cNvSpPr txBox="1"/>
          <p:nvPr/>
        </p:nvSpPr>
        <p:spPr>
          <a:xfrm>
            <a:off x="143565" y="99391"/>
            <a:ext cx="693530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Slide 7:</a:t>
            </a:r>
            <a:r>
              <a:rPr lang="en-US" sz="4000" dirty="0"/>
              <a:t> Key Feature - Two-Stage Approval</a:t>
            </a:r>
          </a:p>
          <a:p>
            <a:r>
              <a:rPr lang="en-US" b="1" dirty="0">
                <a:ea typeface="+mn-lt"/>
                <a:cs typeface="+mn-lt"/>
              </a:rPr>
              <a:t>Title:</a:t>
            </a:r>
            <a:r>
              <a:rPr lang="en-US" dirty="0">
                <a:ea typeface="+mn-lt"/>
                <a:cs typeface="+mn-lt"/>
              </a:rPr>
              <a:t> Approval Workflow Implementation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Workflow Diagram: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Lecturer Submits Claim (Status: Pending)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↓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Coordinator Reviews (Stage 1)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├─ Approve → Status: </a:t>
            </a:r>
            <a:r>
              <a:rPr lang="en-US" dirty="0" err="1">
                <a:ea typeface="+mn-lt"/>
                <a:cs typeface="+mn-lt"/>
              </a:rPr>
              <a:t>CoordinatorApproved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         └─ Reject → Status: Rejected (End)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↓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Manager Reviews (Stage 2)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├─ Approve → Status: Approved (Payment)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  └─ Reject → Status: Rejected (End)</a:t>
            </a:r>
            <a:endParaRPr lang="en-US" dirty="0"/>
          </a:p>
          <a:p>
            <a:endParaRPr lang="en-US" dirty="0"/>
          </a:p>
          <a:p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0A4FD-B62B-42A4-398C-4C7FEC4AB491}"/>
              </a:ext>
            </a:extLst>
          </p:cNvPr>
          <p:cNvSpPr txBox="1"/>
          <p:nvPr/>
        </p:nvSpPr>
        <p:spPr>
          <a:xfrm>
            <a:off x="7432260" y="209826"/>
            <a:ext cx="453886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Code: </a:t>
            </a:r>
            <a:r>
              <a:rPr lang="en-US" sz="1200" dirty="0">
                <a:ea typeface="+mn-lt"/>
                <a:cs typeface="+mn-lt"/>
              </a:rPr>
              <a:t>// </a:t>
            </a:r>
            <a:r>
              <a:rPr lang="en-US" sz="1200" dirty="0" err="1">
                <a:ea typeface="+mn-lt"/>
                <a:cs typeface="+mn-lt"/>
              </a:rPr>
              <a:t>CoordinatorController.cs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[</a:t>
            </a:r>
            <a:r>
              <a:rPr lang="en-US" sz="1200" dirty="0" err="1">
                <a:ea typeface="+mn-lt"/>
                <a:cs typeface="+mn-lt"/>
              </a:rPr>
              <a:t>HttpPost</a:t>
            </a:r>
            <a:r>
              <a:rPr lang="en-US" sz="1200" dirty="0">
                <a:ea typeface="+mn-lt"/>
                <a:cs typeface="+mn-lt"/>
              </a:rPr>
              <a:t>]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public async Task&lt;</a:t>
            </a:r>
            <a:r>
              <a:rPr lang="en-US" sz="1200" dirty="0" err="1">
                <a:ea typeface="+mn-lt"/>
                <a:cs typeface="+mn-lt"/>
              </a:rPr>
              <a:t>IActionResult</a:t>
            </a:r>
            <a:r>
              <a:rPr lang="en-US" sz="1200" dirty="0">
                <a:ea typeface="+mn-lt"/>
                <a:cs typeface="+mn-lt"/>
              </a:rPr>
              <a:t>&gt; </a:t>
            </a:r>
            <a:r>
              <a:rPr lang="en-US" sz="1200" dirty="0" err="1">
                <a:ea typeface="+mn-lt"/>
                <a:cs typeface="+mn-lt"/>
              </a:rPr>
              <a:t>ApproveClaim</a:t>
            </a:r>
            <a:r>
              <a:rPr lang="en-US" sz="1200" dirty="0">
                <a:ea typeface="+mn-lt"/>
                <a:cs typeface="+mn-lt"/>
              </a:rPr>
              <a:t>(int id, string comments)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{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var claim = await _</a:t>
            </a:r>
            <a:r>
              <a:rPr lang="en-US" sz="1200" dirty="0" err="1">
                <a:ea typeface="+mn-lt"/>
                <a:cs typeface="+mn-lt"/>
              </a:rPr>
              <a:t>context.Claims.FindAsync</a:t>
            </a:r>
            <a:r>
              <a:rPr lang="en-US" sz="1200" dirty="0">
                <a:ea typeface="+mn-lt"/>
                <a:cs typeface="+mn-lt"/>
              </a:rPr>
              <a:t>(id);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dirty="0" err="1">
                <a:ea typeface="+mn-lt"/>
                <a:cs typeface="+mn-lt"/>
              </a:rPr>
              <a:t>claim.Status</a:t>
            </a:r>
            <a:r>
              <a:rPr lang="en-US" sz="1200" dirty="0">
                <a:ea typeface="+mn-lt"/>
                <a:cs typeface="+mn-lt"/>
              </a:rPr>
              <a:t> = "</a:t>
            </a:r>
            <a:r>
              <a:rPr lang="en-US" sz="1200" dirty="0" err="1">
                <a:ea typeface="+mn-lt"/>
                <a:cs typeface="+mn-lt"/>
              </a:rPr>
              <a:t>CoordinatorApproved</a:t>
            </a:r>
            <a:r>
              <a:rPr lang="en-US" sz="1200" dirty="0">
                <a:ea typeface="+mn-lt"/>
                <a:cs typeface="+mn-lt"/>
              </a:rPr>
              <a:t>"; // Stage 1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claim.CoordinatorReviewDate</a:t>
            </a:r>
            <a:r>
              <a:rPr lang="en-US" sz="1200" dirty="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DateTime.Now</a:t>
            </a:r>
            <a:r>
              <a:rPr lang="en-US" sz="1200" dirty="0">
                <a:ea typeface="+mn-lt"/>
                <a:cs typeface="+mn-lt"/>
              </a:rPr>
              <a:t>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claim.CoordinatorComments</a:t>
            </a:r>
            <a:r>
              <a:rPr lang="en-US" sz="1200" dirty="0">
                <a:ea typeface="+mn-lt"/>
                <a:cs typeface="+mn-lt"/>
              </a:rPr>
              <a:t> = comments;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await _</a:t>
            </a:r>
            <a:r>
              <a:rPr lang="en-US" sz="1200" dirty="0" err="1">
                <a:ea typeface="+mn-lt"/>
                <a:cs typeface="+mn-lt"/>
              </a:rPr>
              <a:t>context.SaveChangesAsync</a:t>
            </a:r>
            <a:r>
              <a:rPr lang="en-US" sz="1200" dirty="0">
                <a:ea typeface="+mn-lt"/>
                <a:cs typeface="+mn-lt"/>
              </a:rPr>
              <a:t>();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// Forwarded to Manager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}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// </a:t>
            </a:r>
            <a:r>
              <a:rPr lang="en-US" sz="1200" dirty="0" err="1">
                <a:ea typeface="+mn-lt"/>
                <a:cs typeface="+mn-lt"/>
              </a:rPr>
              <a:t>ManagerController.cs</a:t>
            </a:r>
            <a:endParaRPr lang="en-US" sz="1200" dirty="0" err="1"/>
          </a:p>
          <a:p>
            <a:r>
              <a:rPr lang="en-US" sz="1200" dirty="0">
                <a:ea typeface="+mn-lt"/>
                <a:cs typeface="+mn-lt"/>
              </a:rPr>
              <a:t>[</a:t>
            </a:r>
            <a:r>
              <a:rPr lang="en-US" sz="1200" dirty="0" err="1">
                <a:ea typeface="+mn-lt"/>
                <a:cs typeface="+mn-lt"/>
              </a:rPr>
              <a:t>HttpPost</a:t>
            </a:r>
            <a:r>
              <a:rPr lang="en-US" sz="1200" dirty="0">
                <a:ea typeface="+mn-lt"/>
                <a:cs typeface="+mn-lt"/>
              </a:rPr>
              <a:t>]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public async Task&lt;</a:t>
            </a:r>
            <a:r>
              <a:rPr lang="en-US" sz="1200" dirty="0" err="1">
                <a:ea typeface="+mn-lt"/>
                <a:cs typeface="+mn-lt"/>
              </a:rPr>
              <a:t>IActionResult</a:t>
            </a:r>
            <a:r>
              <a:rPr lang="en-US" sz="1200" dirty="0">
                <a:ea typeface="+mn-lt"/>
                <a:cs typeface="+mn-lt"/>
              </a:rPr>
              <a:t>&gt; </a:t>
            </a:r>
            <a:r>
              <a:rPr lang="en-US" sz="1200" dirty="0" err="1">
                <a:ea typeface="+mn-lt"/>
                <a:cs typeface="+mn-lt"/>
              </a:rPr>
              <a:t>FinalApproveClaim</a:t>
            </a:r>
            <a:r>
              <a:rPr lang="en-US" sz="1200" dirty="0">
                <a:ea typeface="+mn-lt"/>
                <a:cs typeface="+mn-lt"/>
              </a:rPr>
              <a:t>(int id, string comments)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{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var claim = await _</a:t>
            </a:r>
            <a:r>
              <a:rPr lang="en-US" sz="1200" dirty="0" err="1">
                <a:ea typeface="+mn-lt"/>
                <a:cs typeface="+mn-lt"/>
              </a:rPr>
              <a:t>context.Claims.FindAsync</a:t>
            </a:r>
            <a:r>
              <a:rPr lang="en-US" sz="1200" dirty="0">
                <a:ea typeface="+mn-lt"/>
                <a:cs typeface="+mn-lt"/>
              </a:rPr>
              <a:t>(id);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dirty="0" err="1">
                <a:ea typeface="+mn-lt"/>
                <a:cs typeface="+mn-lt"/>
              </a:rPr>
              <a:t>claim.Status</a:t>
            </a:r>
            <a:r>
              <a:rPr lang="en-US" sz="1200" dirty="0">
                <a:ea typeface="+mn-lt"/>
                <a:cs typeface="+mn-lt"/>
              </a:rPr>
              <a:t> = "Approved"; // Stage 2 (Final)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err="1">
                <a:ea typeface="+mn-lt"/>
                <a:cs typeface="+mn-lt"/>
              </a:rPr>
              <a:t>claim.ManagerReviewDate</a:t>
            </a:r>
            <a:r>
              <a:rPr lang="en-US" sz="1200" dirty="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DateTime.Now</a:t>
            </a:r>
            <a:r>
              <a:rPr lang="en-US" sz="1200" dirty="0">
                <a:ea typeface="+mn-lt"/>
                <a:cs typeface="+mn-lt"/>
              </a:rPr>
              <a:t>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</a:t>
            </a:r>
            <a:r>
              <a:rPr lang="en-US" sz="1200" dirty="0" err="1">
                <a:ea typeface="+mn-lt"/>
                <a:cs typeface="+mn-lt"/>
              </a:rPr>
              <a:t>claim.ManagerComments</a:t>
            </a:r>
            <a:r>
              <a:rPr lang="en-US" sz="1200" dirty="0">
                <a:ea typeface="+mn-lt"/>
                <a:cs typeface="+mn-lt"/>
              </a:rPr>
              <a:t> = comments;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await _</a:t>
            </a:r>
            <a:r>
              <a:rPr lang="en-US" sz="1200" dirty="0" err="1">
                <a:ea typeface="+mn-lt"/>
                <a:cs typeface="+mn-lt"/>
              </a:rPr>
              <a:t>context.SaveChangesAsync</a:t>
            </a:r>
            <a:r>
              <a:rPr lang="en-US" sz="1200" dirty="0">
                <a:ea typeface="+mn-lt"/>
                <a:cs typeface="+mn-lt"/>
              </a:rPr>
              <a:t>();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   // Ready for payment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107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F7C9-CB20-5E96-EECA-C41E9B0E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4906395"/>
          </a:xfrm>
        </p:spPr>
        <p:txBody>
          <a:bodyPr>
            <a:normAutofit/>
          </a:bodyPr>
          <a:lstStyle/>
          <a:p>
            <a:r>
              <a:rPr lang="en-US" dirty="0"/>
              <a:t>Slide 8: Key Feature - PDF Report Generation</a:t>
            </a:r>
          </a:p>
          <a:p>
            <a:r>
              <a:rPr lang="en-US" dirty="0">
                <a:ea typeface="+mj-lt"/>
                <a:cs typeface="+mj-lt"/>
              </a:rPr>
              <a:t>Title:</a:t>
            </a:r>
            <a:r>
              <a:rPr lang="en-US" b="0" dirty="0">
                <a:ea typeface="+mj-lt"/>
                <a:cs typeface="+mj-lt"/>
              </a:rPr>
              <a:t> Report Generation Using LINQ &amp; iTextSharp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AA37-E2D8-07BD-A1F4-40874C697B3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2BDCBA8-B1AA-115A-7473-4D52D6379F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91139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F97F-BE2A-7A4A-9F08-2002AE21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48" y="186503"/>
            <a:ext cx="2907792" cy="46059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Slide 9: Security Implementation</a:t>
            </a:r>
          </a:p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Title:</a:t>
            </a:r>
            <a:r>
              <a:rPr lang="en-US" b="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 </a:t>
            </a:r>
            <a:r>
              <a:rPr lang="en-US" b="0" dirty="0">
                <a:ea typeface="+mj-lt"/>
                <a:cs typeface="+mj-lt"/>
              </a:rPr>
              <a:t>Security Features</a:t>
            </a: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Features:</a:t>
            </a:r>
            <a:endParaRPr lang="en-US" b="0" dirty="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PBKDF2 with 10,000 iterations</a:t>
            </a:r>
            <a:br>
              <a:rPr lang="en-US" b="0" dirty="0">
                <a:ea typeface="+mj-lt"/>
                <a:cs typeface="+mj-lt"/>
              </a:rPr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Unique salt per password</a:t>
            </a:r>
            <a:br>
              <a:rPr lang="en-US" b="0" dirty="0">
                <a:ea typeface="+mj-lt"/>
                <a:cs typeface="+mj-lt"/>
              </a:rPr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Role-based access control</a:t>
            </a:r>
            <a:br>
              <a:rPr lang="en-US" b="0" dirty="0">
                <a:ea typeface="+mj-lt"/>
                <a:cs typeface="+mj-lt"/>
              </a:rPr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0" dirty="0">
                <a:ea typeface="+mj-lt"/>
                <a:cs typeface="+mj-lt"/>
              </a:rPr>
              <a:t>Anti-forgery tokens</a:t>
            </a:r>
            <a:endParaRPr lang="en-US" dirty="0"/>
          </a:p>
          <a:p>
            <a:endParaRPr lang="en-US" b="0" dirty="0"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16A1C-8D9C-D9BF-7BAD-8EC70F7001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63926" y="186503"/>
            <a:ext cx="3776472" cy="534770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u="sng">
                <a:ea typeface="+mn-lt"/>
                <a:cs typeface="+mn-lt"/>
              </a:rPr>
              <a:t>Password Hashing</a:t>
            </a:r>
          </a:p>
          <a:p>
            <a:r>
              <a:rPr lang="en-US">
                <a:ea typeface="+mn-lt"/>
                <a:cs typeface="+mn-lt"/>
              </a:rPr>
              <a:t>public static string HashPassword(string password)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byte[] salt = new byte[16];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using (var rng = RandomNumberGenerator.Create())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rng.GetBytes</a:t>
            </a:r>
            <a:r>
              <a:rPr lang="en-US">
                <a:ea typeface="+mn-lt"/>
                <a:cs typeface="+mn-lt"/>
              </a:rPr>
              <a:t>(salt);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string hashed = Convert.ToBase64String(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 KeyDerivation.Pbkdf2(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password: password,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salt: salt,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</a:t>
            </a:r>
            <a:r>
              <a:rPr lang="en-US" err="1">
                <a:ea typeface="+mn-lt"/>
                <a:cs typeface="+mn-lt"/>
              </a:rPr>
              <a:t>prf</a:t>
            </a:r>
            <a:r>
              <a:rPr lang="en-US">
                <a:ea typeface="+mn-lt"/>
                <a:cs typeface="+mn-lt"/>
              </a:rPr>
              <a:t>: KeyDerivationPrf.HMACSHA256,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</a:t>
            </a:r>
            <a:r>
              <a:rPr lang="en-US" err="1">
                <a:ea typeface="+mn-lt"/>
                <a:cs typeface="+mn-lt"/>
              </a:rPr>
              <a:t>iterationCount</a:t>
            </a:r>
            <a:r>
              <a:rPr lang="en-US">
                <a:ea typeface="+mn-lt"/>
                <a:cs typeface="+mn-lt"/>
              </a:rPr>
              <a:t>: 10000,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      </a:t>
            </a:r>
            <a:r>
              <a:rPr lang="en-US" err="1">
                <a:ea typeface="+mn-lt"/>
                <a:cs typeface="+mn-lt"/>
              </a:rPr>
              <a:t>numBytesRequested</a:t>
            </a:r>
            <a:r>
              <a:rPr lang="en-US">
                <a:ea typeface="+mn-lt"/>
                <a:cs typeface="+mn-lt"/>
              </a:rPr>
              <a:t>: 32));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return $"{Convert.ToBase64String(salt)}.{hashed}";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}</a:t>
            </a:r>
            <a:endParaRPr lang="en-US"/>
          </a:p>
          <a:p>
            <a:endParaRPr lang="en-US"/>
          </a:p>
        </p:txBody>
      </p:sp>
      <p:pic>
        <p:nvPicPr>
          <p:cNvPr id="8" name="Picture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E0AB5F-3326-ED0B-1B88-1B65908F9A8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30310" r="30310"/>
          <a:stretch/>
        </p:blipFill>
        <p:spPr>
          <a:xfrm>
            <a:off x="7687574" y="0"/>
            <a:ext cx="4662577" cy="6406116"/>
          </a:xfrm>
          <a:prstGeom prst="rect">
            <a:avLst/>
          </a:prstGeom>
          <a:blipFill>
            <a:blip r:embed="rId3">
              <a:alphaModFix amt="7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139321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A1C8-2853-30CA-3A5B-5AF5BE66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11: Challenges &amp; Solutions</a:t>
            </a:r>
          </a:p>
          <a:p>
            <a:r>
              <a:rPr lang="en-US" dirty="0">
                <a:ea typeface="+mj-lt"/>
                <a:cs typeface="+mj-lt"/>
              </a:rPr>
              <a:t>Title:</a:t>
            </a:r>
            <a:r>
              <a:rPr lang="en-US" b="0" dirty="0">
                <a:ea typeface="+mj-lt"/>
                <a:cs typeface="+mj-lt"/>
              </a:rPr>
              <a:t> Development Challenges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3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24059FB0-92E0-8E2A-CCA0-88E91AED239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661956" y="831851"/>
            <a:ext cx="4517136" cy="1351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D962F9-8E15-B81F-F788-7AB2F4CEF7DC}"/>
              </a:ext>
            </a:extLst>
          </p:cNvPr>
          <p:cNvSpPr txBox="1"/>
          <p:nvPr/>
        </p:nvSpPr>
        <p:spPr>
          <a:xfrm>
            <a:off x="6626087" y="2440608"/>
            <a:ext cx="502478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Lessons Learned: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Importance of clear requirements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Value of incremental testing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Benefits of separation of concerns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Need for comprehensive error handling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66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DA45-4803-F68A-816E-E95B12A4A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/>
          <a:p>
            <a:r>
              <a:rPr lang="en-US" sz="1500"/>
              <a:t>Slide 12: Testing &amp; Quality Assurance</a:t>
            </a:r>
          </a:p>
          <a:p>
            <a:r>
              <a:rPr lang="en-US" sz="1500"/>
              <a:t>Title:</a:t>
            </a:r>
            <a:r>
              <a:rPr lang="en-US" sz="1500" b="0"/>
              <a:t> Testing Approach</a:t>
            </a:r>
            <a:endParaRPr lang="en-US" sz="1500"/>
          </a:p>
          <a:p>
            <a:r>
              <a:rPr lang="en-US" sz="1500"/>
              <a:t>Content:</a:t>
            </a:r>
          </a:p>
          <a:p>
            <a:r>
              <a:rPr lang="en-US" sz="1500"/>
              <a:t>Test Scenarios Completed</a:t>
            </a:r>
          </a:p>
          <a:p>
            <a:r>
              <a:rPr lang="en-US" sz="1500" b="0"/>
              <a:t>✅ Complete claim workflow (submit → approve → paid) ✅ Rejection at both approval stages ✅ 180-hour validation enforcement ✅ Duplicate claim prevention ✅ Session timeout handling ✅ Unauthorized access attempts ✅ PDF generation with various filters ✅ File upload with different formats</a:t>
            </a:r>
            <a:endParaRPr lang="en-US" sz="1500"/>
          </a:p>
          <a:p>
            <a:r>
              <a:rPr lang="en-US" sz="1500"/>
              <a:t>Test Data</a:t>
            </a:r>
          </a:p>
          <a:p>
            <a:pPr marL="285750" indent="-285750">
              <a:buFont typeface="Arial"/>
              <a:buChar char="•"/>
            </a:pPr>
            <a:r>
              <a:rPr lang="en-US" sz="1500" b="0"/>
              <a:t>5 user accounts (4 roles)</a:t>
            </a:r>
            <a:endParaRPr lang="en-US" sz="1500"/>
          </a:p>
          <a:p>
            <a:pPr marL="285750" indent="-285750">
              <a:buFont typeface="Arial"/>
              <a:buChar char="•"/>
            </a:pPr>
            <a:r>
              <a:rPr lang="en-US" sz="1500" b="0"/>
              <a:t>4 sample claims (various statuses)</a:t>
            </a:r>
            <a:endParaRPr lang="en-US" sz="1500"/>
          </a:p>
          <a:p>
            <a:pPr marL="285750" indent="-285750">
              <a:buFont typeface="Arial"/>
              <a:buChar char="•"/>
            </a:pPr>
            <a:r>
              <a:rPr lang="en-US" sz="1500" b="0"/>
              <a:t>Multiple test documents</a:t>
            </a:r>
            <a:endParaRPr lang="en-US" sz="1500"/>
          </a:p>
          <a:p>
            <a:endParaRPr lang="en-US" sz="15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DD79AB-2569-8FEA-8711-95E8BFF6053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289399" y="700102"/>
            <a:ext cx="7516137" cy="42136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7614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A176C2-0376-FA5B-D683-A384A5F66EB2}"/>
              </a:ext>
            </a:extLst>
          </p:cNvPr>
          <p:cNvSpPr txBox="1"/>
          <p:nvPr/>
        </p:nvSpPr>
        <p:spPr>
          <a:xfrm>
            <a:off x="242956" y="77303"/>
            <a:ext cx="6118086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Slide 13: GitHub &amp; Version Control</a:t>
            </a:r>
          </a:p>
          <a:p>
            <a:r>
              <a:rPr lang="en-US" b="1" dirty="0">
                <a:ea typeface="+mn-lt"/>
                <a:cs typeface="+mn-lt"/>
              </a:rPr>
              <a:t>Title:</a:t>
            </a:r>
            <a:r>
              <a:rPr lang="en-US" dirty="0">
                <a:ea typeface="+mn-lt"/>
                <a:cs typeface="+mn-lt"/>
              </a:rPr>
              <a:t> Version Control Practices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Content:</a:t>
            </a:r>
            <a:endParaRPr lang="en-US" dirty="0"/>
          </a:p>
          <a:p>
            <a:r>
              <a:rPr lang="en-US" dirty="0"/>
              <a:t>Commit History (10+ commits)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Initial project structure setup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Database models and </a:t>
            </a:r>
            <a:r>
              <a:rPr lang="en-US" dirty="0" err="1">
                <a:ea typeface="+mn-lt"/>
                <a:cs typeface="+mn-lt"/>
              </a:rPr>
              <a:t>DbContext</a:t>
            </a:r>
            <a:r>
              <a:rPr lang="en-US" dirty="0">
                <a:ea typeface="+mn-lt"/>
                <a:cs typeface="+mn-lt"/>
              </a:rPr>
              <a:t> created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Authentication system implemented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HR user management added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Lecturer claim submission feature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Coordinator review functionality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Manager approval system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PDF report generation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UI/UX enhancements with Bootstrap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Validation and error handling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Documentation and README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80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36A1191-BCA9-0CCC-B294-1C324B055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14: Future Enhancements</a:t>
            </a:r>
          </a:p>
          <a:p>
            <a:r>
              <a:rPr lang="en-US" dirty="0">
                <a:ea typeface="+mj-lt"/>
                <a:cs typeface="+mj-lt"/>
              </a:rPr>
              <a:t>Title:</a:t>
            </a:r>
            <a:r>
              <a:rPr lang="en-US" b="0" dirty="0">
                <a:ea typeface="+mj-lt"/>
                <a:cs typeface="+mj-lt"/>
              </a:rPr>
              <a:t> Potential Improvements</a:t>
            </a:r>
            <a:endParaRPr lang="en-US" dirty="0"/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901C2E-AECF-238C-7B8B-9D20958E8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Content:</a:t>
            </a:r>
            <a:endParaRPr lang="en-US" dirty="0"/>
          </a:p>
          <a:p>
            <a:r>
              <a:rPr lang="en-US" dirty="0"/>
              <a:t>Planned Features</a:t>
            </a:r>
          </a:p>
          <a:p>
            <a:r>
              <a:rPr lang="en-US" dirty="0">
                <a:ea typeface="+mn-lt"/>
                <a:cs typeface="+mn-lt"/>
              </a:rPr>
              <a:t>📧 Email notifications for status changes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📊 Advanced analytics dashboard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📱 Mobile responsive design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🔄 Bulk approval functionality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📅 Calendar integration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💾 Cloud storage for documents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🔍 Advanced search and filtering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📈 Trend analysis and forecasting</a:t>
            </a:r>
            <a:endParaRPr lang="en-US" dirty="0"/>
          </a:p>
          <a:p>
            <a:r>
              <a:rPr lang="en-US" dirty="0"/>
              <a:t>Technical Improvements</a:t>
            </a:r>
          </a:p>
          <a:p>
            <a:r>
              <a:rPr lang="en-US" dirty="0">
                <a:ea typeface="+mn-lt"/>
                <a:cs typeface="+mn-lt"/>
              </a:rPr>
              <a:t>Implement distributed caching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 API endpoints for mobile app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Enhance PDF styling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 audit logging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Implement real-time notifications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4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6578-5DFD-C78A-212D-A2B6C366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Slide 15: Conclusion</a:t>
            </a:r>
          </a:p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Title:</a:t>
            </a:r>
            <a:r>
              <a:rPr lang="en-US" b="0" dirty="0">
                <a:solidFill>
                  <a:schemeClr val="tx2">
                    <a:lumMod val="76000"/>
                    <a:lumOff val="24000"/>
                  </a:schemeClr>
                </a:solidFill>
                <a:ea typeface="+mj-lt"/>
                <a:cs typeface="+mj-lt"/>
              </a:rPr>
              <a:t> </a:t>
            </a:r>
            <a:r>
              <a:rPr lang="en-US" b="0" dirty="0">
                <a:ea typeface="+mj-lt"/>
                <a:cs typeface="+mj-lt"/>
              </a:rPr>
              <a:t>Project Summary</a:t>
            </a:r>
            <a:endParaRPr lang="en-US"/>
          </a:p>
          <a:p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1EBB3-5F6F-79FF-FDD1-212E3E535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EF5F4-1CCE-2E67-C24D-1C31E89EA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9691" y="1442"/>
            <a:ext cx="6295744" cy="55820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1">
                <a:ea typeface="+mn-lt"/>
                <a:cs typeface="+mn-lt"/>
              </a:rPr>
              <a:t>Content:</a:t>
            </a:r>
            <a:endParaRPr lang="en-US" sz="1200"/>
          </a:p>
          <a:p>
            <a:r>
              <a:rPr lang="en-US" sz="1200"/>
              <a:t>Project Achievements</a:t>
            </a:r>
          </a:p>
          <a:p>
            <a:r>
              <a:rPr lang="en-US" sz="1200">
                <a:ea typeface="+mn-lt"/>
                <a:cs typeface="+mn-lt"/>
              </a:rPr>
              <a:t>✅ Fully functional claim management system ✅ All Part 3 requirements met ✅ Secure, scalable architecture ✅ Professional UI/UX design ✅ Comprehensive documentation ✅ Thorough testing completed</a:t>
            </a:r>
            <a:endParaRPr lang="en-US" sz="1200"/>
          </a:p>
          <a:p>
            <a:r>
              <a:rPr lang="en-US" sz="1200"/>
              <a:t>Technical Skills Demonstrated</a:t>
            </a:r>
          </a:p>
          <a:p>
            <a:r>
              <a:rPr lang="en-US" sz="1200">
                <a:ea typeface="+mn-lt"/>
                <a:cs typeface="+mn-lt"/>
              </a:rPr>
              <a:t>ASP.NET Core MVC development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Entity Framework Core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SQL Server database design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Session management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Role-based security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PDF generation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Git version control</a:t>
            </a:r>
            <a:endParaRPr lang="en-US" sz="1200"/>
          </a:p>
          <a:p>
            <a:r>
              <a:rPr lang="en-US" sz="1200"/>
              <a:t>Deliverables</a:t>
            </a:r>
          </a:p>
          <a:p>
            <a:r>
              <a:rPr lang="en-US" sz="1200">
                <a:ea typeface="+mn-lt"/>
                <a:cs typeface="+mn-lt"/>
              </a:rPr>
              <a:t>✅ Complete source code on GitHub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✅ SQL database script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✅ README with setup instructions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✅ PowerPoint presentation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✅ Video demonstration (10-15 mins)</a:t>
            </a:r>
            <a:endParaRPr lang="en-US" sz="1200"/>
          </a:p>
          <a:p>
            <a:r>
              <a:rPr lang="en-US" sz="1200" b="1">
                <a:ea typeface="+mn-lt"/>
                <a:cs typeface="+mn-lt"/>
              </a:rPr>
              <a:t>Thank you!</a:t>
            </a:r>
            <a:endParaRPr lang="en-US" sz="1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9261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279CDD-1FB7-427E-9208-ECF0EB941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04CAC9-4DB9-48D9-8A6F-3675D14127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E753F6F-88D8-493D-A089-0923419088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GradientRise</Template>
  <TotalTime>0</TotalTime>
  <Words>4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GradientRise</vt:lpstr>
      <vt:lpstr>CMCS PowerPoint Presentation  PROG6212 Part 3 Final POE  Content: Title: Contract Monthly Claim System (CMCS)  Subtitle: PROG6212 Part 3 - Final Portfolio of Evidence  Student Name:Grace Bissong Agbor  Student Number: ST10066225  Date: 21 November 2025 </vt:lpstr>
      <vt:lpstr>Project Overview Title:  System Overview Content: Purpose: Streamline lecturer contract claim management  Technology: ASP.NET Core 6.0 MVC + SQL Server  Key Innovation: Role-based access control with 4 user types  Highlights:  Auto-calculation of claims Two-stage approval workflow Real-time status tracking PDF report generation  </vt:lpstr>
      <vt:lpstr>PowerPoint Presentation</vt:lpstr>
      <vt:lpstr>Slide 4: Changes from Part 2 to Part 3 (Page 2)  Title: Additional Enhancements Content: 3. Validation Improvements 180-hour monthly maximum validation Duplicate claim prevention per month Required field validation Email format validation  4. Entity Framework Integration Database-first approach with SQL Server No migrations required (as per marking center) SQL script for database creation Proper entity relationships </vt:lpstr>
      <vt:lpstr>Slide 5: Key Feature - Session Management Title: Session-Based Authentication </vt:lpstr>
      <vt:lpstr>Slide 6: Key Feature - Auto-Calculation Title: Automatic Claim Calculation </vt:lpstr>
      <vt:lpstr>PowerPoint Presentation</vt:lpstr>
      <vt:lpstr>Slide 8: Key Feature - PDF Report Generation Title: Report Generation Using LINQ &amp; iTextSharp </vt:lpstr>
      <vt:lpstr>Slide 9: Security Implementation Title: Security Features  Features: PBKDF2 with 10,000 iterations  Unique salt per password  Role-based access control  Anti-forgery tokens  </vt:lpstr>
      <vt:lpstr>Slide 11: Challenges &amp; Solutions Title: Development Challenges </vt:lpstr>
      <vt:lpstr>Slide 12: Testing &amp; Quality Assurance Title: Testing Approach Content: Test Scenarios Completed ✅ Complete claim workflow (submit → approve → paid) ✅ Rejection at both approval stages ✅ 180-hour validation enforcement ✅ Duplicate claim prevention ✅ Session timeout handling ✅ Unauthorized access attempts ✅ PDF generation with various filters ✅ File upload with different formats Test Data 5 user accounts (4 roles) 4 sample claims (various statuses) Multiple test documents </vt:lpstr>
      <vt:lpstr>PowerPoint Presentation</vt:lpstr>
      <vt:lpstr>Slide 14: Future Enhancements Title: Potential Improvements </vt:lpstr>
      <vt:lpstr>Slide 15: Conclusion Title: Project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221</cp:revision>
  <dcterms:created xsi:type="dcterms:W3CDTF">2025-11-21T16:35:48Z</dcterms:created>
  <dcterms:modified xsi:type="dcterms:W3CDTF">2025-11-21T21:22:54Z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